
<file path=[Content_Types].xml><?xml version="1.0" encoding="utf-8"?>
<Types xmlns="http://schemas.openxmlformats.org/package/2006/content-types">
  <Default Extension="png" ContentType="image/png"/>
  <Default Extension="jpeg" ContentType="image/jpeg"/>
  <Default Extension="m4a" ContentType="audio/mp4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sldIdLst>
    <p:sldId id="256" r:id="rId2"/>
    <p:sldId id="257" r:id="rId3"/>
    <p:sldId id="258" r:id="rId4"/>
    <p:sldId id="259" r:id="rId5"/>
    <p:sldId id="261" r:id="rId6"/>
    <p:sldId id="262" r:id="rId7"/>
    <p:sldId id="264" r:id="rId8"/>
    <p:sldId id="265" r:id="rId9"/>
    <p:sldId id="266" r:id="rId10"/>
    <p:sldId id="267" r:id="rId11"/>
    <p:sldId id="268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 varScale="1">
        <p:scale>
          <a:sx n="72" d="100"/>
          <a:sy n="72" d="100"/>
        </p:scale>
        <p:origin x="66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E80BC0-52B1-4143-8055-551D0314B14E}" type="datetimeFigureOut">
              <a:rPr lang="en-IN" smtClean="0"/>
              <a:t>21-06-2026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D6772-EE2D-4B7F-A475-06D3D751760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860020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E80BC0-52B1-4143-8055-551D0314B14E}" type="datetimeFigureOut">
              <a:rPr lang="en-IN" smtClean="0"/>
              <a:t>21-06-2026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D6772-EE2D-4B7F-A475-06D3D751760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957705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E80BC0-52B1-4143-8055-551D0314B14E}" type="datetimeFigureOut">
              <a:rPr lang="en-IN" smtClean="0"/>
              <a:t>21-06-2026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D6772-EE2D-4B7F-A475-06D3D751760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484124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E80BC0-52B1-4143-8055-551D0314B14E}" type="datetimeFigureOut">
              <a:rPr lang="en-IN" smtClean="0"/>
              <a:t>21-06-2026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D6772-EE2D-4B7F-A475-06D3D751760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048867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E80BC0-52B1-4143-8055-551D0314B14E}" type="datetimeFigureOut">
              <a:rPr lang="en-IN" smtClean="0"/>
              <a:t>21-06-2026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D6772-EE2D-4B7F-A475-06D3D751760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978168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E80BC0-52B1-4143-8055-551D0314B14E}" type="datetimeFigureOut">
              <a:rPr lang="en-IN" smtClean="0"/>
              <a:t>21-06-2026</a:t>
            </a:fld>
            <a:endParaRPr lang="en-IN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D6772-EE2D-4B7F-A475-06D3D751760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787469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E80BC0-52B1-4143-8055-551D0314B14E}" type="datetimeFigureOut">
              <a:rPr lang="en-IN" smtClean="0"/>
              <a:t>21-06-2026</a:t>
            </a:fld>
            <a:endParaRPr lang="en-IN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D6772-EE2D-4B7F-A475-06D3D751760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959849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E80BC0-52B1-4143-8055-551D0314B14E}" type="datetimeFigureOut">
              <a:rPr lang="en-IN" smtClean="0"/>
              <a:t>21-06-2026</a:t>
            </a:fld>
            <a:endParaRPr lang="en-IN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D6772-EE2D-4B7F-A475-06D3D751760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497076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E80BC0-52B1-4143-8055-551D0314B14E}" type="datetimeFigureOut">
              <a:rPr lang="en-IN" smtClean="0"/>
              <a:t>21-06-2026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D6772-EE2D-4B7F-A475-06D3D751760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791986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E80BC0-52B1-4143-8055-551D0314B14E}" type="datetimeFigureOut">
              <a:rPr lang="en-IN" smtClean="0"/>
              <a:t>21-06-2026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D6772-EE2D-4B7F-A475-06D3D751760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623320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E80BC0-52B1-4143-8055-551D0314B14E}" type="datetimeFigureOut">
              <a:rPr lang="en-IN" smtClean="0"/>
              <a:t>21-06-2026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D6772-EE2D-4B7F-A475-06D3D751760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122576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E80BC0-52B1-4143-8055-551D0314B14E}" type="datetimeFigureOut">
              <a:rPr lang="en-IN" smtClean="0"/>
              <a:t>21-06-2026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D6772-EE2D-4B7F-A475-06D3D7517606}" type="slidenum">
              <a:rPr lang="en-IN" smtClean="0"/>
              <a:t>‹#›</a:t>
            </a:fld>
            <a:endParaRPr lang="en-IN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96513020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E80BC0-52B1-4143-8055-551D0314B14E}" type="datetimeFigureOut">
              <a:rPr lang="en-IN" smtClean="0"/>
              <a:t>21-06-2026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D6772-EE2D-4B7F-A475-06D3D751760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809045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E80BC0-52B1-4143-8055-551D0314B14E}" type="datetimeFigureOut">
              <a:rPr lang="en-IN" smtClean="0"/>
              <a:t>21-06-2026</a:t>
            </a:fld>
            <a:endParaRPr lang="en-IN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D6772-EE2D-4B7F-A475-06D3D751760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2103582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E80BC0-52B1-4143-8055-551D0314B14E}" type="datetimeFigureOut">
              <a:rPr lang="en-IN" smtClean="0"/>
              <a:t>21-06-2026</a:t>
            </a:fld>
            <a:endParaRPr lang="en-IN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D6772-EE2D-4B7F-A475-06D3D751760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4870470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E80BC0-52B1-4143-8055-551D0314B14E}" type="datetimeFigureOut">
              <a:rPr lang="en-IN" smtClean="0"/>
              <a:t>21-06-2026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D6772-EE2D-4B7F-A475-06D3D751760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321821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E80BC0-52B1-4143-8055-551D0314B14E}" type="datetimeFigureOut">
              <a:rPr lang="en-IN" smtClean="0"/>
              <a:t>21-06-2026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D6772-EE2D-4B7F-A475-06D3D751760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678678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29E80BC0-52B1-4143-8055-551D0314B14E}" type="datetimeFigureOut">
              <a:rPr lang="en-IN" smtClean="0"/>
              <a:t>21-06-2026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DD6772-EE2D-4B7F-A475-06D3D751760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1412857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  <p:sldLayoutId id="2147483732" r:id="rId12"/>
    <p:sldLayoutId id="2147483733" r:id="rId13"/>
    <p:sldLayoutId id="2147483734" r:id="rId14"/>
    <p:sldLayoutId id="2147483735" r:id="rId15"/>
    <p:sldLayoutId id="2147483736" r:id="rId16"/>
    <p:sldLayoutId id="214748373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1.m4a"/><Relationship Id="rId1" Type="http://schemas.microsoft.com/office/2007/relationships/media" Target="../media/media1.m4a"/><Relationship Id="rId4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ayaStar/Parking-Impact-Intelligence-System.git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6F92EA8-2A7B-4DB1-80E1-0B3453FB53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3171" y="1381539"/>
            <a:ext cx="8825658" cy="2421835"/>
          </a:xfrm>
        </p:spPr>
        <p:txBody>
          <a:bodyPr>
            <a:normAutofit/>
          </a:bodyPr>
          <a:lstStyle/>
          <a:p>
            <a:pPr algn="ctr"/>
            <a:r>
              <a:rPr lang="en-US" sz="2000" b="1" dirty="0"/>
              <a:t>Parking Impact Intelligence System</a:t>
            </a:r>
            <a:br>
              <a:rPr lang="en-US" sz="2400" dirty="0"/>
            </a:br>
            <a:br>
              <a:rPr lang="en-US" sz="2400" dirty="0"/>
            </a:br>
            <a:r>
              <a:rPr lang="en-US" sz="2800" dirty="0"/>
              <a:t>AI-Driven Detection, Forecasting and Enforcement Planning for Parking-Induced Congestion</a:t>
            </a:r>
            <a:br>
              <a:rPr lang="en-US" sz="2800" dirty="0"/>
            </a:br>
            <a:endParaRPr lang="en-IN" sz="2400" dirty="0"/>
          </a:p>
        </p:txBody>
      </p:sp>
      <p:sp>
        <p:nvSpPr>
          <p:cNvPr id="6" name="Title 4">
            <a:extLst>
              <a:ext uri="{FF2B5EF4-FFF2-40B4-BE49-F238E27FC236}">
                <a16:creationId xmlns:a16="http://schemas.microsoft.com/office/drawing/2014/main" id="{90CA22BA-2B24-43FC-92C1-033783BDA69C}"/>
              </a:ext>
            </a:extLst>
          </p:cNvPr>
          <p:cNvSpPr txBox="1">
            <a:spLocks/>
          </p:cNvSpPr>
          <p:nvPr/>
        </p:nvSpPr>
        <p:spPr>
          <a:xfrm>
            <a:off x="1683171" y="4532244"/>
            <a:ext cx="8825658" cy="142792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IN" sz="2400" dirty="0"/>
              <a:t>By</a:t>
            </a:r>
          </a:p>
          <a:p>
            <a:pPr algn="ctr"/>
            <a:endParaRPr lang="en-IN" sz="2400" dirty="0"/>
          </a:p>
        </p:txBody>
      </p:sp>
      <p:pic>
        <p:nvPicPr>
          <p:cNvPr id="2" name="Audio 1">
            <a:hlinkClick r:id="" action="ppaction://media"/>
            <a:extLst>
              <a:ext uri="{FF2B5EF4-FFF2-40B4-BE49-F238E27FC236}">
                <a16:creationId xmlns:a16="http://schemas.microsoft.com/office/drawing/2014/main" id="{615B9A2C-9D7E-4145-A90F-0460C746451E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1366500" y="6032500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890974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3034"/>
    </mc:Choice>
    <mc:Fallback>
      <p:transition spd="slow" advTm="13034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341DB6-04D5-4204-8C2A-FD94C8FCF6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952012"/>
          </a:xfrm>
        </p:spPr>
        <p:txBody>
          <a:bodyPr/>
          <a:lstStyle/>
          <a:p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Problem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5231FC-D68C-4008-8A1F-3F365A0B77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7051" y="1827632"/>
            <a:ext cx="3839749" cy="418885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Current Challenges</a:t>
            </a:r>
          </a:p>
          <a:p>
            <a:pPr>
              <a:buClr>
                <a:schemeClr val="accent4">
                  <a:lumMod val="60000"/>
                  <a:lumOff val="40000"/>
                </a:schemeClr>
              </a:buClr>
              <a:buFont typeface="Wingdings" panose="05000000000000000000" pitchFamily="2" charset="2"/>
              <a:buChar char="Ø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Illegal parking causes traffic bottlenecks and lane reduction. </a:t>
            </a:r>
          </a:p>
          <a:p>
            <a:pPr>
              <a:buClr>
                <a:schemeClr val="accent4">
                  <a:lumMod val="60000"/>
                  <a:lumOff val="40000"/>
                </a:schemeClr>
              </a:buClr>
              <a:buFont typeface="Wingdings" panose="05000000000000000000" pitchFamily="2" charset="2"/>
              <a:buChar char="Ø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Enforcement is reactive and patrol-based. </a:t>
            </a:r>
          </a:p>
          <a:p>
            <a:pPr>
              <a:buClr>
                <a:schemeClr val="accent4">
                  <a:lumMod val="60000"/>
                  <a:lumOff val="40000"/>
                </a:schemeClr>
              </a:buClr>
              <a:buFont typeface="Wingdings" panose="05000000000000000000" pitchFamily="2" charset="2"/>
              <a:buChar char="Ø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 prioritization of high-risk zones. </a:t>
            </a:r>
          </a:p>
          <a:p>
            <a:pPr>
              <a:buClr>
                <a:schemeClr val="accent4">
                  <a:lumMod val="60000"/>
                  <a:lumOff val="40000"/>
                </a:schemeClr>
              </a:buClr>
              <a:buFont typeface="Wingdings" panose="05000000000000000000" pitchFamily="2" charset="2"/>
              <a:buChar char="Ø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Limited visibility into repeat offenders. </a:t>
            </a:r>
          </a:p>
          <a:p>
            <a:pPr>
              <a:buClr>
                <a:schemeClr val="accent4">
                  <a:lumMod val="60000"/>
                  <a:lumOff val="40000"/>
                </a:schemeClr>
              </a:buClr>
              <a:buFont typeface="Wingdings" panose="05000000000000000000" pitchFamily="2" charset="2"/>
              <a:buChar char="Ø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Resource deployment relies heavily on experience. </a:t>
            </a:r>
          </a:p>
          <a:p>
            <a:endParaRPr lang="en-I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CE81EF-4E46-47AC-9C4D-D01824045055}"/>
              </a:ext>
            </a:extLst>
          </p:cNvPr>
          <p:cNvSpPr/>
          <p:nvPr/>
        </p:nvSpPr>
        <p:spPr>
          <a:xfrm>
            <a:off x="6586330" y="2331215"/>
            <a:ext cx="6096000" cy="2523768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Impact</a:t>
            </a:r>
          </a:p>
          <a:p>
            <a:pPr marL="342900" indent="-342900">
              <a:lnSpc>
                <a:spcPct val="150000"/>
              </a:lnSpc>
              <a:buClr>
                <a:schemeClr val="accent5">
                  <a:lumMod val="60000"/>
                  <a:lumOff val="40000"/>
                </a:schemeClr>
              </a:buClr>
              <a:buFont typeface="Wingdings" panose="05000000000000000000" pitchFamily="2" charset="2"/>
              <a:buChar char="Ø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Increased congestion </a:t>
            </a:r>
          </a:p>
          <a:p>
            <a:pPr marL="342900" indent="-342900">
              <a:lnSpc>
                <a:spcPct val="150000"/>
              </a:lnSpc>
              <a:buClr>
                <a:schemeClr val="accent5">
                  <a:lumMod val="60000"/>
                  <a:lumOff val="40000"/>
                </a:schemeClr>
              </a:buClr>
              <a:buFont typeface="Wingdings" panose="05000000000000000000" pitchFamily="2" charset="2"/>
              <a:buChar char="Ø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Reduced road capacity </a:t>
            </a:r>
          </a:p>
          <a:p>
            <a:pPr marL="342900" indent="-342900">
              <a:lnSpc>
                <a:spcPct val="150000"/>
              </a:lnSpc>
              <a:buClr>
                <a:schemeClr val="accent5">
                  <a:lumMod val="60000"/>
                  <a:lumOff val="40000"/>
                </a:schemeClr>
              </a:buClr>
              <a:buFont typeface="Wingdings" panose="05000000000000000000" pitchFamily="2" charset="2"/>
              <a:buChar char="Ø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Delayed emergency response </a:t>
            </a:r>
          </a:p>
          <a:p>
            <a:pPr marL="342900" indent="-342900">
              <a:lnSpc>
                <a:spcPct val="150000"/>
              </a:lnSpc>
              <a:buClr>
                <a:schemeClr val="accent5">
                  <a:lumMod val="60000"/>
                  <a:lumOff val="40000"/>
                </a:schemeClr>
              </a:buClr>
              <a:buFont typeface="Wingdings" panose="05000000000000000000" pitchFamily="2" charset="2"/>
              <a:buChar char="Ø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Inefficient enforcement allocation</a:t>
            </a:r>
          </a:p>
          <a:p>
            <a:endParaRPr lang="en-IN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5965A576-B499-406B-9929-89D157B4B367}"/>
              </a:ext>
            </a:extLst>
          </p:cNvPr>
          <p:cNvSpPr/>
          <p:nvPr/>
        </p:nvSpPr>
        <p:spPr>
          <a:xfrm>
            <a:off x="5202606" y="3350783"/>
            <a:ext cx="978408" cy="484632"/>
          </a:xfrm>
          <a:prstGeom prst="rightArrow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983002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8355A5-9E92-4786-92EF-FF2E80615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Dataset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06575B-1DC6-4740-BD23-18D2439743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b="1" dirty="0">
                <a:latin typeface="Arial" panose="020B0604020202020204" pitchFamily="34" charset="0"/>
                <a:cs typeface="Arial" panose="020B0604020202020204" pitchFamily="34" charset="0"/>
              </a:rPr>
              <a:t>Parking Violation Dataset</a:t>
            </a:r>
          </a:p>
          <a:p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298,450 violation records </a:t>
            </a:r>
          </a:p>
          <a:p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54 police stations </a:t>
            </a:r>
          </a:p>
          <a:p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169 junctions </a:t>
            </a:r>
          </a:p>
          <a:p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10,942 locations </a:t>
            </a:r>
          </a:p>
          <a:p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Nov 2023 – Apr 2024 </a:t>
            </a:r>
          </a:p>
          <a:p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Include a simple dataset statistics graphic.</a:t>
            </a:r>
          </a:p>
          <a:p>
            <a:endParaRPr lang="en-I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53346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5DC4B5-1BD6-4897-A1F9-4BA810BD9C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Proposed Solution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E2ACE9-D95F-4CFF-B46E-1531DEBB8B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68278" y="331305"/>
            <a:ext cx="5049079" cy="6073977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Historical Parking Violations</a:t>
            </a:r>
          </a:p>
          <a:p>
            <a:pPr marL="0" indent="0" algn="ctr">
              <a:buNone/>
            </a:pP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   ↓</a:t>
            </a:r>
          </a:p>
          <a:p>
            <a:pPr marL="0" indent="0" algn="ctr">
              <a:buNone/>
            </a:pP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Feature Engineering</a:t>
            </a:r>
          </a:p>
          <a:p>
            <a:pPr marL="0" indent="0" algn="ctr">
              <a:buNone/>
            </a:pP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   ↓</a:t>
            </a:r>
          </a:p>
          <a:p>
            <a:pPr marL="0" indent="0" algn="ctr">
              <a:buNone/>
            </a:pP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Hotspot Detection</a:t>
            </a:r>
          </a:p>
          <a:p>
            <a:pPr marL="0" indent="0" algn="ctr">
              <a:buNone/>
            </a:pP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 ↓</a:t>
            </a:r>
          </a:p>
          <a:p>
            <a:pPr marL="0" indent="0" algn="ctr">
              <a:buNone/>
            </a:pP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Forecasting Engine</a:t>
            </a:r>
          </a:p>
          <a:p>
            <a:pPr marL="0" indent="0" algn="ctr">
              <a:buNone/>
            </a:pP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 ↓</a:t>
            </a:r>
          </a:p>
          <a:p>
            <a:pPr marL="0" indent="0" algn="ctr">
              <a:buNone/>
            </a:pP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Risk Classification</a:t>
            </a:r>
          </a:p>
          <a:p>
            <a:pPr marL="0" indent="0" algn="ctr">
              <a:buNone/>
            </a:pP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 ↓</a:t>
            </a:r>
          </a:p>
          <a:p>
            <a:pPr marL="0" indent="0" algn="ctr">
              <a:buNone/>
            </a:pP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EPI Scoring</a:t>
            </a:r>
          </a:p>
          <a:p>
            <a:pPr marL="0" indent="0" algn="ctr">
              <a:buNone/>
            </a:pP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 ↓</a:t>
            </a:r>
          </a:p>
          <a:p>
            <a:pPr marL="0" indent="0" algn="ctr">
              <a:buNone/>
            </a:pP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Recommendation Engine</a:t>
            </a:r>
          </a:p>
          <a:p>
            <a:pPr marL="0" indent="0" algn="ctr">
              <a:buNone/>
            </a:pP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↓</a:t>
            </a:r>
          </a:p>
          <a:p>
            <a:pPr marL="0" indent="0" algn="ctr">
              <a:buNone/>
            </a:pP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Traffic Police Dashboard</a:t>
            </a:r>
          </a:p>
          <a:p>
            <a:pPr marL="0" indent="0" algn="ctr">
              <a:buNone/>
            </a:pP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↓</a:t>
            </a:r>
          </a:p>
          <a:p>
            <a:pPr marL="0" indent="0" algn="ctr">
              <a:buNone/>
            </a:pP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Targeted Enforcement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CC3A372-9907-49A6-A949-E802BD79C8B9}"/>
              </a:ext>
            </a:extLst>
          </p:cNvPr>
          <p:cNvSpPr/>
          <p:nvPr/>
        </p:nvSpPr>
        <p:spPr>
          <a:xfrm>
            <a:off x="409195" y="1295444"/>
            <a:ext cx="6096000" cy="3780522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1. Hotspot Detection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Analyze historical parking violation data to identify congestion-prone junctions and parking hotspots.</a:t>
            </a:r>
          </a:p>
          <a:p>
            <a:pPr>
              <a:lnSpc>
                <a:spcPct val="150000"/>
              </a:lnSpc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2. Violation Forecasting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Use machine learning models to predict future parking violation intensity based on location and time patterns.</a:t>
            </a:r>
          </a:p>
          <a:p>
            <a:pPr>
              <a:lnSpc>
                <a:spcPct val="150000"/>
              </a:lnSpc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3. Enforcement Intelligence Dashboard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Visualize hotspots, risk levels, forecasts, and enforcement recommendations through an interactive dashboard.</a:t>
            </a:r>
          </a:p>
        </p:txBody>
      </p:sp>
    </p:spTree>
    <p:extLst>
      <p:ext uri="{BB962C8B-B14F-4D97-AF65-F5344CB8AC3E}">
        <p14:creationId xmlns:p14="http://schemas.microsoft.com/office/powerpoint/2010/main" val="211612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32BE3-46C8-45BE-913E-8BDE411015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2366" y="144662"/>
            <a:ext cx="5949259" cy="1574808"/>
          </a:xfrm>
        </p:spPr>
        <p:txBody>
          <a:bodyPr>
            <a:normAutofit/>
          </a:bodyPr>
          <a:lstStyle/>
          <a:p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Parking Violation Heatmap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F1A964-90CE-4952-88C4-2F57031804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43340" y="4631636"/>
            <a:ext cx="5208104" cy="2226364"/>
          </a:xfrm>
        </p:spPr>
        <p:txBody>
          <a:bodyPr>
            <a:normAutofit/>
          </a:bodyPr>
          <a:lstStyle/>
          <a:p>
            <a:r>
              <a:rPr lang="en-US" sz="1900" b="1" dirty="0">
                <a:latin typeface="Arial" panose="020B0604020202020204" pitchFamily="34" charset="0"/>
                <a:cs typeface="Arial" panose="020B0604020202020204" pitchFamily="34" charset="0"/>
              </a:rPr>
              <a:t>Key Insight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Violation density is concentrated around commercial corridors and major junctions.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Enables rapid identification of congestion-prone zones. </a:t>
            </a:r>
          </a:p>
          <a:p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85658BB-B8E4-4C4C-99A5-AC16937746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1532" y="1881809"/>
            <a:ext cx="5574881" cy="367351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C9E3DB9A-A520-495B-8318-1E603F6516F3}"/>
              </a:ext>
            </a:extLst>
          </p:cNvPr>
          <p:cNvSpPr/>
          <p:nvPr/>
        </p:nvSpPr>
        <p:spPr>
          <a:xfrm>
            <a:off x="543340" y="1881809"/>
            <a:ext cx="5208104" cy="253402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Clr>
                <a:schemeClr val="bg2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Visualizes the spatial distribution of historical parking violations across Bengaluru. </a:t>
            </a:r>
          </a:p>
          <a:p>
            <a:pPr>
              <a:lnSpc>
                <a:spcPct val="150000"/>
              </a:lnSpc>
              <a:buClr>
                <a:schemeClr val="bg2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Highlights areas with consistently high violation density and congestion potential. </a:t>
            </a:r>
          </a:p>
          <a:p>
            <a:pPr>
              <a:lnSpc>
                <a:spcPct val="150000"/>
              </a:lnSpc>
              <a:buClr>
                <a:schemeClr val="bg2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Serves as the foundation for hotspot detection, risk analysis, and enforcement planning. </a:t>
            </a:r>
          </a:p>
        </p:txBody>
      </p:sp>
    </p:spTree>
    <p:extLst>
      <p:ext uri="{BB962C8B-B14F-4D97-AF65-F5344CB8AC3E}">
        <p14:creationId xmlns:p14="http://schemas.microsoft.com/office/powerpoint/2010/main" val="36999243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3F05E-3379-4EED-AA60-E9A5862BCD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0330" y="355596"/>
            <a:ext cx="8216348" cy="492543"/>
          </a:xfrm>
        </p:spPr>
        <p:txBody>
          <a:bodyPr>
            <a:normAutofit fontScale="90000"/>
          </a:bodyPr>
          <a:lstStyle/>
          <a:p>
            <a:pPr algn="ctr"/>
            <a:r>
              <a:rPr lang="en-IN" dirty="0"/>
              <a:t>				</a:t>
            </a:r>
            <a:r>
              <a:rPr lang="en-IN" sz="4000" dirty="0">
                <a:latin typeface="Arial" panose="020B0604020202020204" pitchFamily="34" charset="0"/>
                <a:cs typeface="Arial" panose="020B0604020202020204" pitchFamily="34" charset="0"/>
              </a:rPr>
              <a:t>Risk Map &amp; EPI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438F4C-6821-4D91-B027-493999F762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82674" y="1285461"/>
            <a:ext cx="5398674" cy="4664766"/>
          </a:xfrm>
        </p:spPr>
        <p:txBody>
          <a:bodyPr/>
          <a:lstStyle/>
          <a:p>
            <a:r>
              <a:rPr lang="en-IN" sz="2000" b="1" dirty="0">
                <a:latin typeface="Arial" panose="020B0604020202020204" pitchFamily="34" charset="0"/>
                <a:cs typeface="Arial" panose="020B0604020202020204" pitchFamily="34" charset="0"/>
              </a:rPr>
              <a:t>Enforcement Priority Index (EPI)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800" dirty="0">
                <a:latin typeface="Arial" panose="020B0604020202020204" pitchFamily="34" charset="0"/>
                <a:cs typeface="Arial" panose="020B0604020202020204" pitchFamily="34" charset="0"/>
              </a:rPr>
              <a:t>Ranks hotspots based on: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800" dirty="0">
                <a:latin typeface="Arial" panose="020B0604020202020204" pitchFamily="34" charset="0"/>
                <a:cs typeface="Arial" panose="020B0604020202020204" pitchFamily="34" charset="0"/>
              </a:rPr>
              <a:t>Violation frequency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800" dirty="0">
                <a:latin typeface="Arial" panose="020B0604020202020204" pitchFamily="34" charset="0"/>
                <a:cs typeface="Arial" panose="020B0604020202020204" pitchFamily="34" charset="0"/>
              </a:rPr>
              <a:t>Peak-hour activity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800" dirty="0">
                <a:latin typeface="Arial" panose="020B0604020202020204" pitchFamily="34" charset="0"/>
                <a:cs typeface="Arial" panose="020B0604020202020204" pitchFamily="34" charset="0"/>
              </a:rPr>
              <a:t>Repeat offender concentration </a:t>
            </a:r>
          </a:p>
          <a:p>
            <a:r>
              <a:rPr lang="en-IN" sz="2000" b="1" dirty="0">
                <a:latin typeface="Arial" panose="020B0604020202020204" pitchFamily="34" charset="0"/>
                <a:cs typeface="Arial" panose="020B0604020202020204" pitchFamily="34" charset="0"/>
              </a:rPr>
              <a:t>Top Hotspots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800" dirty="0">
                <a:latin typeface="Arial" panose="020B0604020202020204" pitchFamily="34" charset="0"/>
                <a:cs typeface="Arial" panose="020B0604020202020204" pitchFamily="34" charset="0"/>
              </a:rPr>
              <a:t>Safina Plaza Junction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800" dirty="0">
                <a:latin typeface="Arial" panose="020B0604020202020204" pitchFamily="34" charset="0"/>
                <a:cs typeface="Arial" panose="020B0604020202020204" pitchFamily="34" charset="0"/>
              </a:rPr>
              <a:t>Elite Junction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800" dirty="0">
                <a:latin typeface="Arial" panose="020B0604020202020204" pitchFamily="34" charset="0"/>
                <a:cs typeface="Arial" panose="020B0604020202020204" pitchFamily="34" charset="0"/>
              </a:rPr>
              <a:t>Sagar Theatre Junction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800" dirty="0">
                <a:latin typeface="Arial" panose="020B0604020202020204" pitchFamily="34" charset="0"/>
                <a:cs typeface="Arial" panose="020B0604020202020204" pitchFamily="34" charset="0"/>
              </a:rPr>
              <a:t>KR Market Junction </a:t>
            </a:r>
          </a:p>
          <a:p>
            <a:endParaRPr lang="en-IN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9DFDAB8-A6B6-4357-BE75-DD131E5DC5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8819" y="1771650"/>
            <a:ext cx="6418051" cy="40725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43681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A2FE27-80C3-4E7F-9FD4-8E45E1E8E2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885752"/>
          </a:xfrm>
        </p:spPr>
        <p:txBody>
          <a:bodyPr/>
          <a:lstStyle/>
          <a:p>
            <a:pPr algn="ctr"/>
            <a:r>
              <a:rPr lang="en-IN" sz="4400" dirty="0">
                <a:latin typeface="Arial" panose="020B0604020202020204" pitchFamily="34" charset="0"/>
                <a:cs typeface="Arial" panose="020B0604020202020204" pitchFamily="34" charset="0"/>
              </a:rPr>
              <a:t>Forecasting Engine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685693-8793-4834-985F-17DE36032E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01149" y="1431236"/>
            <a:ext cx="4717774" cy="4817164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50000"/>
              </a:lnSpc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Predicts future parking violation intensity using historical spatial and temporal patterns.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Utilizes a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CatBoost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Regressor trained on location and time-based violation data. 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Forecasts violation volume at hotspot locations before congestion escalates. 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Supports proactive officer deployment and targeted enforcement planning. </a:t>
            </a:r>
          </a:p>
          <a:p>
            <a:pPr>
              <a:lnSpc>
                <a:spcPct val="150000"/>
              </a:lnSpc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Key Inputs: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Police Station • Junction • Day of Week • Hour of Day</a:t>
            </a:r>
          </a:p>
          <a:p>
            <a:pPr>
              <a:lnSpc>
                <a:spcPct val="150000"/>
              </a:lnSpc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Performance: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MAE = 9.49 violations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356D1F7-35DD-409E-AE0C-6EF46A76EA9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782" t="12542" b="8869"/>
          <a:stretch/>
        </p:blipFill>
        <p:spPr>
          <a:xfrm>
            <a:off x="5777948" y="1770492"/>
            <a:ext cx="5969729" cy="3901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72720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DB20A-06BD-40F2-910B-04D0129AC8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Repeat Offender Analysis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E3F01CA6-0765-4271-8177-DC61592B772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0991" y="1513307"/>
            <a:ext cx="8947150" cy="3336989"/>
          </a:xfr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AC2075AE-6D89-4CB7-85B8-5E63F454D33B}"/>
              </a:ext>
            </a:extLst>
          </p:cNvPr>
          <p:cNvSpPr/>
          <p:nvPr/>
        </p:nvSpPr>
        <p:spPr>
          <a:xfrm>
            <a:off x="1470991" y="4970659"/>
            <a:ext cx="8375374" cy="188045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Detects vehicles with a history of frequent parking violations.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Prioritizes high-risk repeat offenders for focused enforcement.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Helps authorities prevent recurring congestion caused by habitual violators. </a:t>
            </a:r>
          </a:p>
        </p:txBody>
      </p:sp>
    </p:spTree>
    <p:extLst>
      <p:ext uri="{BB962C8B-B14F-4D97-AF65-F5344CB8AC3E}">
        <p14:creationId xmlns:p14="http://schemas.microsoft.com/office/powerpoint/2010/main" val="922602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57D574-90D3-4824-9037-F6189E433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Enforcement Planner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F9EC3982-690B-49AB-80C1-0190FD2C47D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03684" y="1391725"/>
            <a:ext cx="8947150" cy="294666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ECA37812-66D0-4C01-82DB-43F9102C5264}"/>
              </a:ext>
            </a:extLst>
          </p:cNvPr>
          <p:cNvSpPr/>
          <p:nvPr/>
        </p:nvSpPr>
        <p:spPr>
          <a:xfrm>
            <a:off x="1457738" y="4338391"/>
            <a:ext cx="8947149" cy="23436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Prioritizes hotspot locations based on predicted violation risk and EPI scores. 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Recommends optimal deployment of traffic personnel and monitoring resources. 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Enables proactive enforcement to reduce parking-induced congestion and improve traffic flow. </a:t>
            </a:r>
          </a:p>
        </p:txBody>
      </p:sp>
    </p:spTree>
    <p:extLst>
      <p:ext uri="{BB962C8B-B14F-4D97-AF65-F5344CB8AC3E}">
        <p14:creationId xmlns:p14="http://schemas.microsoft.com/office/powerpoint/2010/main" val="8981130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3A663-2EB9-4D39-A351-1214077010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018273"/>
          </a:xfrm>
        </p:spPr>
        <p:txBody>
          <a:bodyPr/>
          <a:lstStyle/>
          <a:p>
            <a:pPr algn="ctr"/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Impact &amp; Future 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4D4D6D-465F-4FE4-B97D-6FF93EA7F0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3" y="2052918"/>
            <a:ext cx="4754148" cy="4195481"/>
          </a:xfrm>
        </p:spPr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Impact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Prioritized enforcement 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Reduced parking-induced congestion 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Better resource allocation 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Data-driven decision making</a:t>
            </a:r>
          </a:p>
          <a:p>
            <a:endParaRPr lang="en-IN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BEE08B0-FB24-4C01-A1C0-1B81AF94C63F}"/>
              </a:ext>
            </a:extLst>
          </p:cNvPr>
          <p:cNvSpPr/>
          <p:nvPr/>
        </p:nvSpPr>
        <p:spPr>
          <a:xfrm>
            <a:off x="6334541" y="2052918"/>
            <a:ext cx="6096000" cy="3266985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Future Scope</a:t>
            </a:r>
            <a:endParaRPr lang="en-US" altLang="en-US" sz="2000" dirty="0">
              <a:latin typeface="Arial" panose="020B0604020202020204" pitchFamily="34" charset="0"/>
            </a:endParaRPr>
          </a:p>
          <a:p>
            <a:pPr marL="342900" lvl="0" indent="-34290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chemeClr val="bg2">
                  <a:lumMod val="40000"/>
                  <a:lumOff val="60000"/>
                </a:schemeClr>
              </a:buClr>
              <a:buFont typeface="Arial" panose="020B0604020202020204" pitchFamily="34" charset="0"/>
              <a:buChar char="•"/>
            </a:pPr>
            <a:r>
              <a:rPr lang="en-US" altLang="en-US" sz="2000" dirty="0">
                <a:latin typeface="Arial" panose="020B0604020202020204" pitchFamily="34" charset="0"/>
              </a:rPr>
              <a:t>Real-Time CCTV Integration </a:t>
            </a:r>
          </a:p>
          <a:p>
            <a:pPr marL="342900" lvl="0" indent="-34290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chemeClr val="bg2">
                  <a:lumMod val="40000"/>
                  <a:lumOff val="60000"/>
                </a:schemeClr>
              </a:buClr>
              <a:buFont typeface="Arial" panose="020B0604020202020204" pitchFamily="34" charset="0"/>
              <a:buChar char="•"/>
            </a:pPr>
            <a:r>
              <a:rPr lang="en-US" altLang="en-US" sz="2000" dirty="0">
                <a:latin typeface="Arial" panose="020B0604020202020204" pitchFamily="34" charset="0"/>
              </a:rPr>
              <a:t>Live Violation Data Ingestion </a:t>
            </a:r>
          </a:p>
          <a:p>
            <a:pPr marL="342900" lvl="0" indent="-34290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chemeClr val="bg2">
                  <a:lumMod val="40000"/>
                  <a:lumOff val="60000"/>
                </a:schemeClr>
              </a:buClr>
              <a:buFont typeface="Arial" panose="020B0604020202020204" pitchFamily="34" charset="0"/>
              <a:buChar char="•"/>
            </a:pPr>
            <a:r>
              <a:rPr lang="en-US" altLang="en-US" sz="2000" dirty="0">
                <a:latin typeface="Arial" panose="020B0604020202020204" pitchFamily="34" charset="0"/>
              </a:rPr>
              <a:t>Dynamic EPI Score Updates </a:t>
            </a:r>
          </a:p>
          <a:p>
            <a:pPr marL="342900" lvl="0" indent="-34290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chemeClr val="bg2">
                  <a:lumMod val="40000"/>
                  <a:lumOff val="60000"/>
                </a:schemeClr>
              </a:buClr>
              <a:buFont typeface="Arial" panose="020B0604020202020204" pitchFamily="34" charset="0"/>
              <a:buChar char="•"/>
            </a:pPr>
            <a:r>
              <a:rPr lang="en-US" altLang="en-US" sz="2000" dirty="0">
                <a:latin typeface="Arial" panose="020B0604020202020204" pitchFamily="34" charset="0"/>
              </a:rPr>
              <a:t>Automated Enforcement Alerts </a:t>
            </a:r>
          </a:p>
          <a:p>
            <a:pPr marL="342900" lvl="0" indent="-34290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chemeClr val="bg2">
                  <a:lumMod val="40000"/>
                  <a:lumOff val="60000"/>
                </a:schemeClr>
              </a:buClr>
              <a:buFont typeface="Arial" panose="020B0604020202020204" pitchFamily="34" charset="0"/>
              <a:buChar char="•"/>
            </a:pPr>
            <a:r>
              <a:rPr lang="en-US" altLang="en-US" sz="2000" dirty="0">
                <a:latin typeface="Arial" panose="020B0604020202020204" pitchFamily="34" charset="0"/>
              </a:rPr>
              <a:t>Smart City &amp; Traffic Control Integration </a:t>
            </a:r>
          </a:p>
          <a:p>
            <a:pPr marL="342900" indent="-342900">
              <a:lnSpc>
                <a:spcPct val="150000"/>
              </a:lnSpc>
              <a:buClr>
                <a:schemeClr val="bg2">
                  <a:lumMod val="40000"/>
                  <a:lumOff val="60000"/>
                </a:schemeClr>
              </a:buClr>
              <a:buFont typeface="Wingdings" panose="05000000000000000000" pitchFamily="2" charset="2"/>
              <a:buChar char="Ø"/>
            </a:pPr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0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12409-5834-440D-B07C-FC44D2EF9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1397" y="2038948"/>
            <a:ext cx="9404723" cy="901062"/>
          </a:xfrm>
        </p:spPr>
        <p:txBody>
          <a:bodyPr/>
          <a:lstStyle/>
          <a:p>
            <a:pPr algn="ctr"/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Thank You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91135D-1BB2-4C32-A611-EA441A930C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3514" y="3732544"/>
            <a:ext cx="9307731" cy="1243646"/>
          </a:xfrm>
        </p:spPr>
        <p:txBody>
          <a:bodyPr/>
          <a:lstStyle/>
          <a:p>
            <a:pPr marL="0" indent="0" algn="ctr">
              <a:buNone/>
            </a:pP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https://github.com/GayaStar/Parking-Impact-Intelligence-System.git</a:t>
            </a:r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buNone/>
            </a:pP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https://parking-impact-intelligence-system.streamlit.app</a:t>
            </a:r>
          </a:p>
        </p:txBody>
      </p:sp>
    </p:spTree>
    <p:extLst>
      <p:ext uri="{BB962C8B-B14F-4D97-AF65-F5344CB8AC3E}">
        <p14:creationId xmlns:p14="http://schemas.microsoft.com/office/powerpoint/2010/main" val="277814701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87</TotalTime>
  <Words>462</Words>
  <Application>Microsoft Office PowerPoint</Application>
  <PresentationFormat>Widescreen</PresentationFormat>
  <Paragraphs>94</Paragraphs>
  <Slides>11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Century Gothic</vt:lpstr>
      <vt:lpstr>Wingdings</vt:lpstr>
      <vt:lpstr>Wingdings 3</vt:lpstr>
      <vt:lpstr>Ion</vt:lpstr>
      <vt:lpstr>Parking Impact Intelligence System  AI-Driven Detection, Forecasting and Enforcement Planning for Parking-Induced Congestion </vt:lpstr>
      <vt:lpstr>Problem Statement</vt:lpstr>
      <vt:lpstr>Dataset Overview</vt:lpstr>
      <vt:lpstr>Proposed Solution</vt:lpstr>
      <vt:lpstr>Parking Violation Heatmap</vt:lpstr>
      <vt:lpstr>    Risk Map &amp; EPI</vt:lpstr>
      <vt:lpstr>Forecasting Engine</vt:lpstr>
      <vt:lpstr>Repeat Offender Analysis</vt:lpstr>
      <vt:lpstr>Enforcement Planner</vt:lpstr>
      <vt:lpstr>Impact &amp; Future Scope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Parking Impact Intelligence System AI-Driven Detection, Forecasting and Enforcement Planning for Parking-Induced Congestion</dc:title>
  <dc:creator>GAYATRI</dc:creator>
  <cp:lastModifiedBy>GAYATRI</cp:lastModifiedBy>
  <cp:revision>9</cp:revision>
  <dcterms:created xsi:type="dcterms:W3CDTF">2026-06-20T16:51:49Z</dcterms:created>
  <dcterms:modified xsi:type="dcterms:W3CDTF">2026-06-21T09:25:34Z</dcterms:modified>
</cp:coreProperties>
</file>